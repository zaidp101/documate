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4630400" cy="8229600"/>
  <p:notesSz cx="8229600" cy="14630400"/>
  <p:embeddedFontLst>
    <p:embeddedFont>
      <p:font typeface="Noto Sans TC" panose="020B0604020202020204" charset="-128"/>
      <p:regular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205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6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91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92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EF9CE96-C5C6-428E-95D3-6F9D6E0AD7F3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8066D8E1-067B-49F7-8D04-D5FC8A79542E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>
              <a:alpha val="8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FC4C4F3-7054-4BFA-A449-4C2C36C021C3}"/>
              </a:ext>
            </a:extLst>
          </p:cNvPr>
          <p:cNvSpPr/>
          <p:nvPr/>
        </p:nvSpPr>
        <p:spPr>
          <a:xfrm>
            <a:off x="3402449" y="734497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DocuMate</a:t>
            </a:r>
            <a:endParaRPr lang="en-US" sz="615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34B80DEA-0640-4280-A3C0-57D9EEE193F5}"/>
              </a:ext>
            </a:extLst>
          </p:cNvPr>
          <p:cNvSpPr/>
          <p:nvPr/>
        </p:nvSpPr>
        <p:spPr>
          <a:xfrm>
            <a:off x="2988469" y="2052876"/>
            <a:ext cx="865346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+mj-lt"/>
                <a:ea typeface="Sora Medium" pitchFamily="34" charset="-122"/>
                <a:cs typeface="Sora Medium" pitchFamily="34" charset="-120"/>
              </a:rPr>
              <a:t>Your Code's Story, Automatically Told</a:t>
            </a:r>
            <a:endParaRPr lang="en-US" sz="3550" dirty="0">
              <a:latin typeface="+mj-lt"/>
            </a:endParaRP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B05836C7-D19C-416C-AAF6-843056E3FA41}"/>
              </a:ext>
            </a:extLst>
          </p:cNvPr>
          <p:cNvSpPr/>
          <p:nvPr/>
        </p:nvSpPr>
        <p:spPr>
          <a:xfrm>
            <a:off x="793790" y="2960013"/>
            <a:ext cx="6407944" cy="2713196"/>
          </a:xfrm>
          <a:prstGeom prst="roundRect">
            <a:avLst>
              <a:gd name="adj" fmla="val 1254"/>
            </a:avLst>
          </a:prstGeom>
          <a:solidFill>
            <a:srgbClr val="26262B"/>
          </a:solidFill>
          <a:ln/>
        </p:spPr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0A400124-EFE8-4EED-96F2-8733B4A50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894" y="3186827"/>
            <a:ext cx="680442" cy="680442"/>
          </a:xfrm>
          <a:prstGeom prst="rect">
            <a:avLst/>
          </a:prstGeom>
        </p:spPr>
      </p:pic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D1DDE32C-C0C8-4631-BD54-E9ACCBA6C1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2060" y="3373874"/>
            <a:ext cx="306110" cy="306110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FDB6F0F7-7F77-4833-BD9C-23281CAB67BD}"/>
              </a:ext>
            </a:extLst>
          </p:cNvPr>
          <p:cNvSpPr/>
          <p:nvPr/>
        </p:nvSpPr>
        <p:spPr>
          <a:xfrm>
            <a:off x="1020604" y="4094083"/>
            <a:ext cx="59543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ea typeface="Sora Medium" pitchFamily="34" charset="-122"/>
                <a:cs typeface="Sora Medium" pitchFamily="34" charset="-120"/>
              </a:rPr>
              <a:t>Amir Aneesh Khan</a:t>
            </a:r>
            <a:endParaRPr lang="en-US" sz="22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2A3AE005-F128-4E69-9B63-488B8CCA52BC}"/>
              </a:ext>
            </a:extLst>
          </p:cNvPr>
          <p:cNvSpPr/>
          <p:nvPr/>
        </p:nvSpPr>
        <p:spPr>
          <a:xfrm>
            <a:off x="1020604" y="458450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24MCA-21</a:t>
            </a:r>
            <a:endParaRPr lang="en-US" sz="175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B3211EA9-38C1-4836-81D9-0433DD87DB5E}"/>
              </a:ext>
            </a:extLst>
          </p:cNvPr>
          <p:cNvSpPr/>
          <p:nvPr/>
        </p:nvSpPr>
        <p:spPr>
          <a:xfrm>
            <a:off x="1020604" y="508349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Prof. Ifrah </a:t>
            </a:r>
            <a:r>
              <a:rPr lang="en-US" sz="175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Kampoo</a:t>
            </a:r>
            <a:endParaRPr lang="en-US" sz="175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02C27501-2118-498C-8BEC-0DE7C711A63F}"/>
              </a:ext>
            </a:extLst>
          </p:cNvPr>
          <p:cNvSpPr/>
          <p:nvPr/>
        </p:nvSpPr>
        <p:spPr>
          <a:xfrm>
            <a:off x="7428548" y="2960013"/>
            <a:ext cx="6408063" cy="2713196"/>
          </a:xfrm>
          <a:prstGeom prst="roundRect">
            <a:avLst>
              <a:gd name="adj" fmla="val 1254"/>
            </a:avLst>
          </a:prstGeom>
          <a:solidFill>
            <a:srgbClr val="26262B"/>
          </a:solidFill>
          <a:ln/>
        </p:spPr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B3596E8F-F55E-4770-BF4C-8970D8C62EBC}"/>
              </a:ext>
            </a:extLst>
          </p:cNvPr>
          <p:cNvSpPr/>
          <p:nvPr/>
        </p:nvSpPr>
        <p:spPr>
          <a:xfrm>
            <a:off x="7655362" y="4094083"/>
            <a:ext cx="60705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ea typeface="Sora Medium" pitchFamily="34" charset="-122"/>
                <a:cs typeface="Sora Medium" pitchFamily="34" charset="-120"/>
              </a:rPr>
              <a:t>Zaid Rafique Patel</a:t>
            </a:r>
            <a:endParaRPr lang="en-US" sz="2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D2D4E621-E19A-477B-9FAD-48B5EFB02B02}"/>
              </a:ext>
            </a:extLst>
          </p:cNvPr>
          <p:cNvSpPr/>
          <p:nvPr/>
        </p:nvSpPr>
        <p:spPr>
          <a:xfrm>
            <a:off x="7655362" y="4584502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24MCA-40</a:t>
            </a:r>
            <a:endParaRPr lang="en-US" sz="175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80A6E4EF-B3F2-43AC-8292-52F941AFB968}"/>
              </a:ext>
            </a:extLst>
          </p:cNvPr>
          <p:cNvSpPr/>
          <p:nvPr/>
        </p:nvSpPr>
        <p:spPr>
          <a:xfrm>
            <a:off x="7655362" y="508349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Prof .Mansi </a:t>
            </a:r>
            <a:r>
              <a:rPr lang="en-US" sz="175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Rajapurkar</a:t>
            </a:r>
            <a:endParaRPr lang="en-US" sz="175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F6868E70-BE0F-4153-B2EE-19FAAF1AE609}"/>
              </a:ext>
            </a:extLst>
          </p:cNvPr>
          <p:cNvSpPr/>
          <p:nvPr/>
        </p:nvSpPr>
        <p:spPr>
          <a:xfrm>
            <a:off x="793790" y="6041741"/>
            <a:ext cx="13042821" cy="35957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F45E5E82-753F-4030-AC9A-E2E710DD3A5F}"/>
              </a:ext>
            </a:extLst>
          </p:cNvPr>
          <p:cNvSpPr/>
          <p:nvPr/>
        </p:nvSpPr>
        <p:spPr>
          <a:xfrm>
            <a:off x="793790" y="633281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Masters of Computer Application</a:t>
            </a:r>
            <a:endParaRPr lang="en-US" sz="22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46468F8F-716D-4414-AB04-DC433A449642}"/>
              </a:ext>
            </a:extLst>
          </p:cNvPr>
          <p:cNvSpPr/>
          <p:nvPr/>
        </p:nvSpPr>
        <p:spPr>
          <a:xfrm>
            <a:off x="793790" y="704147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Research Project</a:t>
            </a:r>
            <a:endParaRPr lang="en-US" sz="2200" dirty="0"/>
          </a:p>
        </p:txBody>
      </p:sp>
      <p:pic>
        <p:nvPicPr>
          <p:cNvPr id="38" name="Image 1" descr="preencoded.png">
            <a:extLst>
              <a:ext uri="{FF2B5EF4-FFF2-40B4-BE49-F238E27FC236}">
                <a16:creationId xmlns:a16="http://schemas.microsoft.com/office/drawing/2014/main" id="{E9E55EC8-14CE-4550-BD8A-40B6E7730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9105" y="3186827"/>
            <a:ext cx="680442" cy="680442"/>
          </a:xfrm>
          <a:prstGeom prst="rect">
            <a:avLst/>
          </a:prstGeom>
        </p:spPr>
      </p:pic>
      <p:pic>
        <p:nvPicPr>
          <p:cNvPr id="39" name="Image 2" descr="preencoded.png">
            <a:extLst>
              <a:ext uri="{FF2B5EF4-FFF2-40B4-BE49-F238E27FC236}">
                <a16:creationId xmlns:a16="http://schemas.microsoft.com/office/drawing/2014/main" id="{94FB087E-B721-470C-A1B6-645A598FD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86271" y="3373874"/>
            <a:ext cx="306110" cy="30611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5048CE8-0BCB-4129-8E89-63F48F81D3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5939" y="57467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96614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87835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The Documentation Challenge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214688"/>
            <a:ext cx="121920" cy="1367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471982"/>
            <a:ext cx="33755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latin typeface="+mj-lt"/>
                <a:ea typeface="Sora Medium" pitchFamily="34" charset="-122"/>
                <a:cs typeface="Sora Medium" pitchFamily="34" charset="-120"/>
              </a:rPr>
              <a:t>Manual Documentation</a:t>
            </a:r>
            <a:endParaRPr lang="en-US" sz="28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2524" y="396240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Time-consuming and error-prone processes.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3214688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3214688"/>
            <a:ext cx="121920" cy="13679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3471982"/>
            <a:ext cx="28584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Outdated READMEs</a:t>
            </a:r>
          </a:p>
        </p:txBody>
      </p:sp>
      <p:sp>
        <p:nvSpPr>
          <p:cNvPr id="10" name="Text 6"/>
          <p:cNvSpPr/>
          <p:nvPr/>
        </p:nvSpPr>
        <p:spPr>
          <a:xfrm>
            <a:off x="7777282" y="3962400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Documentation lags behind code changes.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809411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809411"/>
            <a:ext cx="121920" cy="13679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Developer Burden</a:t>
            </a:r>
          </a:p>
        </p:txBody>
      </p:sp>
      <p:sp>
        <p:nvSpPr>
          <p:cNvPr id="14" name="Text 9"/>
          <p:cNvSpPr/>
          <p:nvPr/>
        </p:nvSpPr>
        <p:spPr>
          <a:xfrm>
            <a:off x="1142524" y="555712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Context switching between coding and documenting.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809411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4809411"/>
            <a:ext cx="121920" cy="136790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5066705"/>
            <a:ext cx="29219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Inconsistent Quality</a:t>
            </a:r>
          </a:p>
        </p:txBody>
      </p:sp>
      <p:sp>
        <p:nvSpPr>
          <p:cNvPr id="18" name="Text 12"/>
          <p:cNvSpPr/>
          <p:nvPr/>
        </p:nvSpPr>
        <p:spPr>
          <a:xfrm>
            <a:off x="7777282" y="555712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Varies across projects and team members.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F9CE96-C5C6-428E-95D3-6F9D6E0AD7F3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5AF4666-F277-4B80-AB66-7982BA17C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0932" y="7339079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10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What is DocuMate?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40568"/>
            <a:ext cx="1110245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+mj-lt"/>
                <a:ea typeface="Sora Medium" pitchFamily="34" charset="-122"/>
                <a:cs typeface="Sora Medium" pitchFamily="34" charset="-120"/>
              </a:rPr>
              <a:t>Intelligent Documentation Automation Platform</a:t>
            </a:r>
            <a:endParaRPr lang="en-US" sz="355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547705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7745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E0D6DE"/>
                </a:solidFill>
                <a:ea typeface="Sora Medium" pitchFamily="34" charset="-122"/>
                <a:cs typeface="Sora Medium" pitchFamily="34" charset="-120"/>
              </a:rPr>
              <a:t>AI-Powered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20604" y="426493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Uses Gemini AI for smart documentation generation.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54770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  <a:ln/>
        </p:spPr>
      </p:sp>
      <p:sp>
        <p:nvSpPr>
          <p:cNvPr id="8" name="Text 6"/>
          <p:cNvSpPr/>
          <p:nvPr/>
        </p:nvSpPr>
        <p:spPr>
          <a:xfrm>
            <a:off x="7655362" y="37745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3200" dirty="0">
                <a:solidFill>
                  <a:srgbClr val="E0D6DE"/>
                </a:solidFill>
                <a:cs typeface="Sora Medium" pitchFamily="34" charset="-120"/>
              </a:rPr>
              <a:t>Auto-Sync</a:t>
            </a:r>
          </a:p>
        </p:txBody>
      </p:sp>
      <p:sp>
        <p:nvSpPr>
          <p:cNvPr id="9" name="Text 7"/>
          <p:cNvSpPr/>
          <p:nvPr/>
        </p:nvSpPr>
        <p:spPr>
          <a:xfrm>
            <a:off x="7655362" y="426493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Automatically updates documentation on code changes.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081468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  <a:ln/>
        </p:spPr>
      </p:sp>
      <p:sp>
        <p:nvSpPr>
          <p:cNvPr id="11" name="Text 9"/>
          <p:cNvSpPr/>
          <p:nvPr/>
        </p:nvSpPr>
        <p:spPr>
          <a:xfrm>
            <a:off x="1020604" y="5308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sz="3200" dirty="0">
                <a:solidFill>
                  <a:srgbClr val="E0D6DE"/>
                </a:solidFill>
                <a:cs typeface="Sora Medium" pitchFamily="34" charset="-120"/>
              </a:rPr>
              <a:t>Smart Analysis</a:t>
            </a:r>
          </a:p>
        </p:txBody>
      </p:sp>
      <p:sp>
        <p:nvSpPr>
          <p:cNvPr id="12" name="Text 10"/>
          <p:cNvSpPr/>
          <p:nvPr/>
        </p:nvSpPr>
        <p:spPr>
          <a:xfrm>
            <a:off x="1020604" y="579870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Analyzes project structure and code changes.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081468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  <a:ln/>
        </p:spPr>
      </p:sp>
      <p:sp>
        <p:nvSpPr>
          <p:cNvPr id="14" name="Text 12"/>
          <p:cNvSpPr/>
          <p:nvPr/>
        </p:nvSpPr>
        <p:spPr>
          <a:xfrm>
            <a:off x="7655362" y="5308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3200" dirty="0">
                <a:solidFill>
                  <a:srgbClr val="E0D6DE"/>
                </a:solidFill>
                <a:cs typeface="Sora Medium" pitchFamily="34" charset="-120"/>
              </a:rPr>
              <a:t>Domain-Specific</a:t>
            </a:r>
          </a:p>
        </p:txBody>
      </p:sp>
      <p:sp>
        <p:nvSpPr>
          <p:cNvPr id="15" name="Text 13"/>
          <p:cNvSpPr/>
          <p:nvPr/>
        </p:nvSpPr>
        <p:spPr>
          <a:xfrm>
            <a:off x="7655362" y="5798701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Tailored documentation for different project types.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79347D-43BD-4D5C-BB57-62CF8F21F117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8907449-A461-430A-BFF6-B0343157A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932" y="7339079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7216"/>
            <a:ext cx="89849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Key Features: Core Capabilities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93790" y="2699623"/>
            <a:ext cx="13042821" cy="3992642"/>
          </a:xfrm>
          <a:prstGeom prst="roundRect">
            <a:avLst>
              <a:gd name="adj" fmla="val 85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07243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285095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Auto-README Generation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5824" y="2850952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creates comprehensive READMEs based on project analysis.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72046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224" y="386417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 Integration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5824" y="386417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Automatically triggers on code commits.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37078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224" y="451449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 Diff View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451449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Side-by-side comparison of old vs new documentation.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502110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224" y="516481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Dockerfile Generation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5824" y="516481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Creates optimized Docker configurations.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671423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224" y="581513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Multi-Domain Support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824" y="5815132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AI_DATA, WEB_SOFTWARE, CLOUD_INFRA, EMERGING_TECH.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C1FAA6-A7F4-4D09-AEE7-6CE5C88C359E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A55F065-CA8C-4BD0-877D-94B567C50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932" y="7339079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115" y="1246465"/>
            <a:ext cx="5487591" cy="653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540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System Architecture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32115" y="2318623"/>
            <a:ext cx="13166169" cy="4664512"/>
          </a:xfrm>
          <a:prstGeom prst="roundRect">
            <a:avLst>
              <a:gd name="adj" fmla="val 673"/>
            </a:avLst>
          </a:prstGeom>
          <a:solidFill>
            <a:srgbClr val="141419"/>
          </a:solidFill>
          <a:ln/>
        </p:spPr>
      </p:sp>
      <p:sp>
        <p:nvSpPr>
          <p:cNvPr id="4" name="Shape 2"/>
          <p:cNvSpPr/>
          <p:nvPr/>
        </p:nvSpPr>
        <p:spPr>
          <a:xfrm>
            <a:off x="721757" y="2318623"/>
            <a:ext cx="13186886" cy="4664512"/>
          </a:xfrm>
          <a:prstGeom prst="roundRect">
            <a:avLst>
              <a:gd name="adj" fmla="val 673"/>
            </a:avLst>
          </a:prstGeom>
          <a:solidFill>
            <a:srgbClr val="141419"/>
          </a:solidFill>
          <a:ln/>
        </p:spPr>
      </p:sp>
      <p:sp>
        <p:nvSpPr>
          <p:cNvPr id="5" name="Text 3"/>
          <p:cNvSpPr/>
          <p:nvPr/>
        </p:nvSpPr>
        <p:spPr>
          <a:xfrm>
            <a:off x="930950" y="2475428"/>
            <a:ext cx="12768501" cy="4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┌─────────────────┐    ┌──────────────────┐    ┌─────────────────┐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│   Frontend      │    │   Spring Boot    │    │   H2            │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│   (React)       │◄──►│   Backend        │◄──►│   Database      │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│                 │    │                  │    │                 │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└─────────────────┘    └──────────────────┘    └─────────────────┘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│                       │                       │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│                       │                       │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▼                       ▼                       ▼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┌─────────────────┐    ┌──────────────────┐    ┌─────────────────┐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│   Git Hooks     │    │   AI Service     │    │   File System   │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│   (Auto-trigger)│    │   (Gemini API)   │    │   Operations    │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└─────────────────┘    └──────────────────┘    └─────────────────┘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CA1CE2-3F18-4419-8212-BFCBE515C205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775FD8-9F58-417D-BEAA-30CB65FD3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932" y="7339079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856" y="441484"/>
            <a:ext cx="4610338" cy="501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Smart Project Analysis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61856" y="1007269"/>
            <a:ext cx="5979557" cy="40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+mj-lt"/>
                <a:ea typeface="Sora Medium" pitchFamily="34" charset="-122"/>
                <a:cs typeface="Sora Medium" pitchFamily="34" charset="-120"/>
              </a:rPr>
              <a:t>Intelligent Codebase Understanding</a:t>
            </a:r>
            <a:endParaRPr lang="en-US" sz="28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1856" y="1649373"/>
            <a:ext cx="13506688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ProjectAnalysisService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1856" y="2086928"/>
            <a:ext cx="13506688" cy="3580924"/>
          </a:xfrm>
          <a:prstGeom prst="roundRect">
            <a:avLst>
              <a:gd name="adj" fmla="val 673"/>
            </a:avLst>
          </a:prstGeom>
          <a:solidFill>
            <a:srgbClr val="141419"/>
          </a:solidFill>
          <a:ln/>
        </p:spPr>
      </p:sp>
      <p:sp>
        <p:nvSpPr>
          <p:cNvPr id="6" name="Shape 4"/>
          <p:cNvSpPr/>
          <p:nvPr/>
        </p:nvSpPr>
        <p:spPr>
          <a:xfrm>
            <a:off x="553879" y="2086928"/>
            <a:ext cx="13522643" cy="3580924"/>
          </a:xfrm>
          <a:prstGeom prst="roundRect">
            <a:avLst>
              <a:gd name="adj" fmla="val 673"/>
            </a:avLst>
          </a:prstGeom>
          <a:solidFill>
            <a:srgbClr val="141419"/>
          </a:solidFill>
          <a:ln/>
        </p:spPr>
      </p:sp>
      <p:sp>
        <p:nvSpPr>
          <p:cNvPr id="7" name="Text 5"/>
          <p:cNvSpPr/>
          <p:nvPr/>
        </p:nvSpPr>
        <p:spPr>
          <a:xfrm>
            <a:off x="714375" y="2207300"/>
            <a:ext cx="13201650" cy="334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ProjectAnalysisDTO analyzeProject(String localPath) {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return ProjectAnalysisDTO.builder()    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.projectType(detectProjectType())        // Java, Node.js, Python        						.architectureType(detectArchitecture())  // Full-stack, Backend, Frontend    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.mainLanguage(detectMainLanguage())      // Primary tech stack    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.buildTool(detectBuildTool())           // Maven, npm, pip    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.keyFiles(identifyKeyFiles())           // Critical project files    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.dependencies(extractDependencies())    // Project dependencies    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.subProjects(identifySubProjects())     // Multi-module detection    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.fileStructure(scanProjectStructure())  // Complete file map    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.build();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1856" y="5848469"/>
            <a:ext cx="13506688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ReadmeAiService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1856" y="6286024"/>
            <a:ext cx="13506688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Context-Aware Documentation Generation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1856" y="6599039"/>
            <a:ext cx="13506688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Flexible AI Response Handling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1856" y="6912054"/>
            <a:ext cx="13506688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Supports multiple JSON field formats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1856" y="7225070"/>
            <a:ext cx="13506688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Fallback mechanisms for AI failures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9834" y="7538085"/>
            <a:ext cx="13506688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Domain-specific template customization</a:t>
            </a:r>
            <a:endParaRPr lang="en-US" sz="12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910A15-EB74-4C58-9E23-C4D60D15CE28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1E5845-1CF4-4503-AD05-2BC3E574D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932" y="7339079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066" y="566499"/>
            <a:ext cx="9732050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5550"/>
              </a:lnSpc>
              <a:buNone/>
            </a:pPr>
            <a:r>
              <a:rPr lang="en-US" sz="4400" dirty="0">
                <a:solidFill>
                  <a:srgbClr val="97B8FF"/>
                </a:solidFill>
                <a:cs typeface="Sora Medium" panose="020B0604020202020204" charset="0"/>
              </a:rPr>
              <a:t>Git Integration: Automated Workflow</a:t>
            </a:r>
          </a:p>
        </p:txBody>
      </p:sp>
      <p:sp>
        <p:nvSpPr>
          <p:cNvPr id="3" name="Shape 1"/>
          <p:cNvSpPr/>
          <p:nvPr/>
        </p:nvSpPr>
        <p:spPr>
          <a:xfrm>
            <a:off x="718066" y="1617940"/>
            <a:ext cx="13194268" cy="3917156"/>
          </a:xfrm>
          <a:prstGeom prst="roundRect">
            <a:avLst>
              <a:gd name="adj" fmla="val 786"/>
            </a:avLst>
          </a:prstGeom>
          <a:solidFill>
            <a:srgbClr val="141419"/>
          </a:solidFill>
          <a:ln/>
        </p:spPr>
      </p:sp>
      <p:sp>
        <p:nvSpPr>
          <p:cNvPr id="4" name="Shape 2"/>
          <p:cNvSpPr/>
          <p:nvPr/>
        </p:nvSpPr>
        <p:spPr>
          <a:xfrm>
            <a:off x="707827" y="1617940"/>
            <a:ext cx="13214747" cy="3917156"/>
          </a:xfrm>
          <a:prstGeom prst="roundRect">
            <a:avLst>
              <a:gd name="adj" fmla="val 786"/>
            </a:avLst>
          </a:prstGeom>
          <a:solidFill>
            <a:srgbClr val="141419"/>
          </a:solidFill>
          <a:ln/>
        </p:spPr>
      </p:sp>
      <p:sp>
        <p:nvSpPr>
          <p:cNvPr id="5" name="Text 3"/>
          <p:cNvSpPr/>
          <p:nvPr/>
        </p:nvSpPr>
        <p:spPr>
          <a:xfrm>
            <a:off x="912971" y="1771769"/>
            <a:ext cx="12804458" cy="360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@Servicepublic class GitTriggerService {   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public void processGitPush(GitPushEventDTO pushEvent) {       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	// 1. Detect code changes via Git hooks       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	// 2. Analyze differences with </a:t>
            </a:r>
            <a:r>
              <a:rPr lang="en-US" sz="1600" dirty="0" err="1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GitDiffService</a:t>
            </a: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        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	// 3. Generate updated README with AI       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	// 4. Save as PENDING for review       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	// 5. Notify user for approval   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	}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8066" y="5842754"/>
            <a:ext cx="3240286" cy="384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+mj-lt"/>
                <a:ea typeface="Sora Medium" pitchFamily="34" charset="-122"/>
                <a:cs typeface="Sora Medium" pitchFamily="34" charset="-120"/>
              </a:rPr>
              <a:t>Git Hook Installation</a:t>
            </a:r>
            <a:endParaRPr lang="en-US" sz="32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8066" y="6535103"/>
            <a:ext cx="13194268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Automatic post-commit hook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8066" y="6935033"/>
            <a:ext cx="13194268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Cross-platform support (Windows/Linux)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8066" y="7334964"/>
            <a:ext cx="13194268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Real-time notification system</a:t>
            </a: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5219E0-9452-42B8-B1A3-5AE5B7E0DCE7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E0AE00-0280-445F-B4E8-10F42AE72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932" y="7339079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741"/>
            <a:ext cx="107567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5400" dirty="0">
                <a:solidFill>
                  <a:srgbClr val="97B8FF"/>
                </a:solidFill>
                <a:cs typeface="Sora Medium" panose="020B0604020202020204" charset="0"/>
              </a:rPr>
              <a:t>Documentation Lifecycle: Smart Flow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Sora Light" pitchFamily="34" charset="-122"/>
                <a:cs typeface="Sora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95193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669500"/>
            <a:ext cx="29139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latin typeface="+mj-lt"/>
                <a:ea typeface="Sora Medium" pitchFamily="34" charset="-122"/>
                <a:cs typeface="Sora Medium" pitchFamily="34" charset="-120"/>
              </a:rPr>
              <a:t>Project Registration</a:t>
            </a:r>
            <a:endParaRPr lang="en-US" sz="28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315991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Initial README Generation.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Sora Light" pitchFamily="34" charset="-122"/>
              </a:rPr>
              <a:t>02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2495193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Code Changes</a:t>
            </a:r>
          </a:p>
        </p:txBody>
      </p:sp>
      <p:sp>
        <p:nvSpPr>
          <p:cNvPr id="10" name="Text 6"/>
          <p:cNvSpPr/>
          <p:nvPr/>
        </p:nvSpPr>
        <p:spPr>
          <a:xfrm>
            <a:off x="7428548" y="315991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 Hook Triggered.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Sora Light" pitchFamily="34" charset="-122"/>
              </a:rPr>
              <a:t>03</a:t>
            </a: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51960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AI Analysis</a:t>
            </a:r>
          </a:p>
        </p:txBody>
      </p:sp>
      <p:sp>
        <p:nvSpPr>
          <p:cNvPr id="14" name="Text 9"/>
          <p:cNvSpPr/>
          <p:nvPr/>
        </p:nvSpPr>
        <p:spPr>
          <a:xfrm>
            <a:off x="793790" y="493942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Generate Updated README.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Sora Light" pitchFamily="34" charset="-122"/>
              </a:rPr>
              <a:t>04</a:t>
            </a: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4251960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Diff Review</a:t>
            </a:r>
          </a:p>
        </p:txBody>
      </p:sp>
      <p:sp>
        <p:nvSpPr>
          <p:cNvPr id="18" name="Text 12"/>
          <p:cNvSpPr/>
          <p:nvPr/>
        </p:nvSpPr>
        <p:spPr>
          <a:xfrm>
            <a:off x="7428548" y="49394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Side-by-side Comparison.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93790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Sora Light" pitchFamily="34" charset="-122"/>
              </a:rPr>
              <a:t>05</a:t>
            </a: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008846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3790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User Approval</a:t>
            </a:r>
          </a:p>
        </p:txBody>
      </p:sp>
      <p:sp>
        <p:nvSpPr>
          <p:cNvPr id="22" name="Text 15"/>
          <p:cNvSpPr/>
          <p:nvPr/>
        </p:nvSpPr>
        <p:spPr>
          <a:xfrm>
            <a:off x="793790" y="671893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Auto-commit &amp; Push.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7428548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Sora Light" pitchFamily="34" charset="-122"/>
              </a:rPr>
              <a:t>06</a:t>
            </a: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6008846"/>
            <a:ext cx="6408063" cy="30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28548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History Tracking</a:t>
            </a:r>
          </a:p>
        </p:txBody>
      </p:sp>
      <p:sp>
        <p:nvSpPr>
          <p:cNvPr id="26" name="Text 18"/>
          <p:cNvSpPr/>
          <p:nvPr/>
        </p:nvSpPr>
        <p:spPr>
          <a:xfrm>
            <a:off x="7428548" y="671893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Version control for docs.</a:t>
            </a:r>
            <a:endParaRPr lang="en-US" sz="1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F938AE-2DF9-4D9A-944D-236AA797A438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B4D5443-A965-41D2-A7D2-865A041D1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0932" y="7339079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9799"/>
            <a:ext cx="129616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97B8FF"/>
                </a:solidFill>
                <a:cs typeface="Sora Medium" panose="020B0604020202020204" charset="0"/>
              </a:rPr>
              <a:t>Technology Stack: Full Stack Implementation</a:t>
            </a:r>
          </a:p>
        </p:txBody>
      </p:sp>
      <p:sp>
        <p:nvSpPr>
          <p:cNvPr id="3" name="Shape 1"/>
          <p:cNvSpPr/>
          <p:nvPr/>
        </p:nvSpPr>
        <p:spPr>
          <a:xfrm>
            <a:off x="793790" y="2412206"/>
            <a:ext cx="13042821" cy="4567476"/>
          </a:xfrm>
          <a:prstGeom prst="roundRect">
            <a:avLst>
              <a:gd name="adj" fmla="val 74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41982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256353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Frontend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5824" y="256353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Electron.js,  </a:t>
            </a:r>
            <a:r>
              <a:rPr lang="en-US" sz="175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ReactJs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07014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224" y="321385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Backend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5824" y="321385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Spring Boot, Java 17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72046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224" y="386417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Service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386417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Google Gemini API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37078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224" y="451449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5824" y="451449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H2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02110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224" y="516481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 Integration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824" y="516481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JGit, Git hooks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567142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224" y="581513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Build Tool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45824" y="581513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Maven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801410" y="632174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28224" y="646545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Containerization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545824" y="646545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Docker</a:t>
            </a:r>
            <a:endParaRPr lang="en-US" sz="17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25944C-4AAF-45C9-842E-EAB595A41842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DC7611B-E81F-4CA2-8F0F-C9811198B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932" y="7339079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47198"/>
            <a:ext cx="71376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ea typeface="Sora Medium" pitchFamily="34" charset="-122"/>
                <a:cs typeface="Sora Medium" panose="020B0604020202020204" charset="0"/>
              </a:rPr>
              <a:t>Security</a:t>
            </a:r>
            <a:r>
              <a:rPr lang="en-US" sz="445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 &amp; Configuration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46703"/>
            <a:ext cx="1267968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+mj-lt"/>
                <a:ea typeface="Sora Medium" pitchFamily="34" charset="-122"/>
                <a:cs typeface="Sora Medium" pitchFamily="34" charset="-120"/>
              </a:rPr>
              <a:t>GitCredentialsService: Secure Credential Management</a:t>
            </a:r>
            <a:endParaRPr lang="en-US" sz="3550" dirty="0">
              <a:latin typeface="+mj-lt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060865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4053840"/>
            <a:ext cx="30978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latin typeface="+mj-lt"/>
                <a:ea typeface="Sora Medium" pitchFamily="34" charset="-122"/>
                <a:cs typeface="Sora Medium" pitchFamily="34" charset="-120"/>
              </a:rPr>
              <a:t>Encrypted API tokens</a:t>
            </a:r>
            <a:endParaRPr lang="en-US" sz="2800" dirty="0">
              <a:latin typeface="+mj-lt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895" y="4060865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94000" y="4053840"/>
            <a:ext cx="32134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Secure Git credentials</a:t>
            </a: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5201960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0906" y="5194935"/>
            <a:ext cx="49182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Environment-based configuration</a:t>
            </a: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895" y="5201960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94000" y="5194935"/>
            <a:ext cx="50582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Base64 encoding for sensitive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DC3E50-9556-4D8C-B0D0-41A46BEA17FB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A18514-3E4C-4E62-BA93-440775F10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0932" y="7339079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062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5400" dirty="0">
                <a:solidFill>
                  <a:srgbClr val="97B8FF"/>
                </a:solidFill>
                <a:cs typeface="Sora Medium" panose="020B0604020202020204" charset="0"/>
              </a:rPr>
              <a:t>Competitive Advantage: Why DocuMate Stands Out</a:t>
            </a:r>
          </a:p>
        </p:txBody>
      </p:sp>
      <p:sp>
        <p:nvSpPr>
          <p:cNvPr id="3" name="Shape 1"/>
          <p:cNvSpPr/>
          <p:nvPr/>
        </p:nvSpPr>
        <p:spPr>
          <a:xfrm>
            <a:off x="793790" y="3091815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099435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324314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Feature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324314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DocuMate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324314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Traditional Tools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749754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389346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Intelligence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389346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Context-aware generation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389346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Manual writing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400074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454378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Auto-Sync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4543782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Git-triggered updates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454378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Manual updates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050393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519410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Multi-Format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5194102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README + Dockerfile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519410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Single format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700712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9653" y="584442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Domain-Specific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077" y="584442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Tailored templates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6691" y="584442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Generic templates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6351032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9653" y="649474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Integrated Workflow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375077" y="6494740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Git-native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716691" y="649474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External tools</a:t>
            </a:r>
            <a:endParaRPr lang="en-US" sz="17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32C726-86E6-4121-90D1-62710B68C7E1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4395777-86DF-4B9E-9A6F-4A947442E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932" y="7339079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741"/>
            <a:ext cx="107567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5400" dirty="0">
                <a:solidFill>
                  <a:srgbClr val="97B8FF"/>
                </a:solidFill>
                <a:cs typeface="Sora Medium" panose="020B0604020202020204" charset="0"/>
              </a:rPr>
              <a:t>Conclusion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Sora Light" pitchFamily="34" charset="-122"/>
                <a:cs typeface="Sora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95193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669500"/>
            <a:ext cx="29139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latin typeface="+mj-lt"/>
                <a:ea typeface="Sora Medium" pitchFamily="34" charset="-122"/>
                <a:cs typeface="Sora Medium" pitchFamily="34" charset="-120"/>
              </a:rPr>
              <a:t>AI-Powered</a:t>
            </a:r>
            <a:endParaRPr lang="en-US" sz="28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315991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Intelligent, context-aware documentation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Sora Light" pitchFamily="34" charset="-122"/>
              </a:rPr>
              <a:t>02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2495193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Automated</a:t>
            </a:r>
          </a:p>
        </p:txBody>
      </p:sp>
      <p:sp>
        <p:nvSpPr>
          <p:cNvPr id="10" name="Text 6"/>
          <p:cNvSpPr/>
          <p:nvPr/>
        </p:nvSpPr>
        <p:spPr>
          <a:xfrm>
            <a:off x="7428548" y="315991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Git-triggered, zero manual effort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Sora Light" pitchFamily="34" charset="-122"/>
              </a:rPr>
              <a:t>03</a:t>
            </a: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51960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Comprehensive</a:t>
            </a:r>
          </a:p>
        </p:txBody>
      </p:sp>
      <p:sp>
        <p:nvSpPr>
          <p:cNvPr id="14" name="Text 9"/>
          <p:cNvSpPr/>
          <p:nvPr/>
        </p:nvSpPr>
        <p:spPr>
          <a:xfrm>
            <a:off x="793790" y="493942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README + </a:t>
            </a:r>
            <a:r>
              <a:rPr lang="en-US" sz="175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Dockerfile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+ .ENV + </a:t>
            </a:r>
            <a:r>
              <a:rPr lang="en-US" sz="175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GitIgnore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automation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Sora Light" pitchFamily="34" charset="-122"/>
              </a:rPr>
              <a:t>04</a:t>
            </a: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4251960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Developer-Centric</a:t>
            </a:r>
          </a:p>
        </p:txBody>
      </p:sp>
      <p:sp>
        <p:nvSpPr>
          <p:cNvPr id="18" name="Text 12"/>
          <p:cNvSpPr/>
          <p:nvPr/>
        </p:nvSpPr>
        <p:spPr>
          <a:xfrm>
            <a:off x="7428548" y="49394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IN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Built for developers, by developers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93790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Sora Light" pitchFamily="34" charset="-122"/>
              </a:rPr>
              <a:t>05</a:t>
            </a: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008846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3790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Production-Ready</a:t>
            </a:r>
          </a:p>
        </p:txBody>
      </p:sp>
      <p:sp>
        <p:nvSpPr>
          <p:cNvPr id="22" name="Text 15"/>
          <p:cNvSpPr/>
          <p:nvPr/>
        </p:nvSpPr>
        <p:spPr>
          <a:xfrm>
            <a:off x="793790" y="671893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Robust, scalable architecture</a:t>
            </a:r>
            <a:endParaRPr lang="en-US" sz="1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F938AE-2DF9-4D9A-944D-236AA797A438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59C86B91-4EC4-4629-80BF-26A034BFA98B}"/>
              </a:ext>
            </a:extLst>
          </p:cNvPr>
          <p:cNvSpPr/>
          <p:nvPr/>
        </p:nvSpPr>
        <p:spPr>
          <a:xfrm>
            <a:off x="7315200" y="6295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latin typeface="+mj-lt"/>
                <a:cs typeface="Sora Medium" pitchFamily="34" charset="-120"/>
              </a:rPr>
              <a:t>DocuMate </a:t>
            </a: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55573B05-CFC8-4803-9D17-7EFCA044347D}"/>
              </a:ext>
            </a:extLst>
          </p:cNvPr>
          <p:cNvSpPr/>
          <p:nvPr/>
        </p:nvSpPr>
        <p:spPr>
          <a:xfrm>
            <a:off x="7315200" y="671893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Where AI meets documentation automation!</a:t>
            </a:r>
            <a:endParaRPr lang="en-US" sz="17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402B886-3DA8-43A1-8AEE-F07180287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0932" y="7339079"/>
            <a:ext cx="830016" cy="7811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70329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404" y="3461028"/>
            <a:ext cx="5487591" cy="653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00"/>
              </a:lnSpc>
              <a:buNone/>
            </a:pPr>
            <a:r>
              <a:rPr lang="en-US" sz="540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CA1CE2-3F18-4419-8212-BFCBE515C205}"/>
              </a:ext>
            </a:extLst>
          </p:cNvPr>
          <p:cNvSpPr/>
          <p:nvPr/>
        </p:nvSpPr>
        <p:spPr>
          <a:xfrm>
            <a:off x="12553122" y="7643191"/>
            <a:ext cx="1987826" cy="477079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07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420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700</Words>
  <Application>Microsoft Office PowerPoint</Application>
  <PresentationFormat>Custom</PresentationFormat>
  <Paragraphs>178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Noto Sans TC</vt:lpstr>
      <vt:lpstr>Arial</vt:lpstr>
      <vt:lpstr>Sora Light</vt:lpstr>
      <vt:lpstr>Sora Medium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demize</dc:creator>
  <cp:lastModifiedBy>amir khan</cp:lastModifiedBy>
  <cp:revision>15</cp:revision>
  <dcterms:created xsi:type="dcterms:W3CDTF">2025-11-28T16:55:38Z</dcterms:created>
  <dcterms:modified xsi:type="dcterms:W3CDTF">2025-11-29T02:34:27Z</dcterms:modified>
</cp:coreProperties>
</file>